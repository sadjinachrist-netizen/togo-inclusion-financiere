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3D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3D2E"/>
                </a:solidFill>
                <a:latin typeface="Arial"/>
              </a:rPr>
              <a:t>Individus utilisant Internet (% de la population)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individus</c:v>
                </c:pt>
              </c:strCache>
            </c:strRef>
          </c:tx>
          <c:spPr>
            <a:solidFill>
              <a:srgbClr val="0F6E4E"/>
            </a:solidFill>
            <a:ln w="38100" cap="flat">
              <a:solidFill>
                <a:srgbClr val="0F6E4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E4E"/>
              </a:solidFill>
              <a:ln w="9525" cap="flat">
                <a:solidFill>
                  <a:srgbClr val="0F6E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0.8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2.4</c:v>
                </c:pt>
                <c:pt idx="5">
                  <c:v>3</c:v>
                </c:pt>
                <c:pt idx="6">
                  <c:v>4</c:v>
                </c:pt>
                <c:pt idx="7">
                  <c:v>4.5</c:v>
                </c:pt>
                <c:pt idx="8">
                  <c:v>5.7</c:v>
                </c:pt>
                <c:pt idx="9">
                  <c:v>7.1</c:v>
                </c:pt>
                <c:pt idx="10">
                  <c:v>11.3</c:v>
                </c:pt>
                <c:pt idx="11">
                  <c:v>12.4</c:v>
                </c:pt>
                <c:pt idx="12">
                  <c:v>15.5</c:v>
                </c:pt>
                <c:pt idx="13">
                  <c:v>20.7</c:v>
                </c:pt>
                <c:pt idx="14">
                  <c:v>29</c:v>
                </c:pt>
                <c:pt idx="15">
                  <c:v>32.5</c:v>
                </c:pt>
                <c:pt idx="16">
                  <c:v>37.6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9FB8A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Grand Lomé</c:v>
                  </c:pt>
                  <c:pt idx="1">
                    <c:v>Maritime</c:v>
                  </c:pt>
                  <c:pt idx="2">
                    <c:v>Plateaux</c:v>
                  </c:pt>
                  <c:pt idx="3">
                    <c:v>Centrale</c:v>
                  </c:pt>
                  <c:pt idx="4">
                    <c:v>Kara</c:v>
                  </c:pt>
                  <c:pt idx="5">
                    <c:v>Savanes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16.6</c:v>
                </c:pt>
                <c:pt idx="2">
                  <c:v>20.2</c:v>
                </c:pt>
                <c:pt idx="3">
                  <c:v>9.8</c:v>
                </c:pt>
                <c:pt idx="4">
                  <c:v>12.2</c:v>
                </c:pt>
                <c:pt idx="5">
                  <c:v>14.1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Établissements financiers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Grand Lomé</c:v>
                  </c:pt>
                  <c:pt idx="1">
                    <c:v>Maritime</c:v>
                  </c:pt>
                  <c:pt idx="2">
                    <c:v>Plateaux</c:v>
                  </c:pt>
                  <c:pt idx="3">
                    <c:v>Centrale</c:v>
                  </c:pt>
                  <c:pt idx="4">
                    <c:v>Kara</c:v>
                  </c:pt>
                  <c:pt idx="5">
                    <c:v>Savanes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40.3</c:v>
                </c:pt>
                <c:pt idx="1">
                  <c:v>14.8</c:v>
                </c:pt>
                <c:pt idx="2">
                  <c:v>15.3</c:v>
                </c:pt>
                <c:pt idx="3">
                  <c:v>9.4</c:v>
                </c:pt>
                <c:pt idx="4">
                  <c:v>12</c:v>
                </c:pt>
                <c:pt idx="5">
                  <c:v>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Agents mobile money</c:v>
                </c:pt>
              </c:strCache>
            </c:strRef>
          </c:tx>
          <c:spPr>
            <a:solidFill>
              <a:srgbClr val="C845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Grand Lomé</c:v>
                  </c:pt>
                  <c:pt idx="1">
                    <c:v>Maritime</c:v>
                  </c:pt>
                  <c:pt idx="2">
                    <c:v>Plateaux</c:v>
                  </c:pt>
                  <c:pt idx="3">
                    <c:v>Centrale</c:v>
                  </c:pt>
                  <c:pt idx="4">
                    <c:v>Kara</c:v>
                  </c:pt>
                  <c:pt idx="5">
                    <c:v>Savanes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32.9</c:v>
                </c:pt>
                <c:pt idx="1">
                  <c:v>12.5</c:v>
                </c:pt>
                <c:pt idx="2">
                  <c:v>15.6</c:v>
                </c:pt>
                <c:pt idx="3">
                  <c:v>10.6</c:v>
                </c:pt>
                <c:pt idx="4">
                  <c:v>14.9</c:v>
                </c:pt>
                <c:pt idx="5">
                  <c:v>13.5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Part nationale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3D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3D2E"/>
                </a:solidFill>
                <a:latin typeface="Arial"/>
              </a:rPr>
              <a:t>373 cantons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Cantons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53B"/>
              </a:solidFill>
              <a:effectLst/>
            </c:spPr>
          </c:dPt>
          <c:dPt>
            <c:idx val="1"/>
            <c:bubble3D val="0"/>
            <c:spPr>
              <a:solidFill>
                <a:srgbClr val="0F6E4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Mobile money uniquement</c:v>
                </c:pt>
                <c:pt idx="1">
                  <c:v>Mobile money + établissements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246</c:v>
                </c:pt>
                <c:pt idx="1">
                  <c:v>127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3D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3D2E"/>
                </a:solidFill>
                <a:latin typeface="Arial"/>
              </a:rPr>
              <a:t>Préfectures comptant le plus de cantons « mobile money uniquement »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 uniquement</c:v>
                </c:pt>
              </c:strCache>
            </c:strRef>
          </c:tx>
          <c:spPr>
            <a:solidFill>
              <a:srgbClr val="C8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Tône</c:v>
                  </c:pt>
                  <c:pt idx="1">
                    <c:v>Kozah</c:v>
                  </c:pt>
                  <c:pt idx="2">
                    <c:v>Tchaoudjo</c:v>
                  </c:pt>
                  <c:pt idx="3">
                    <c:v>Dankpen</c:v>
                  </c:pt>
                  <c:pt idx="4">
                    <c:v>Wawa</c:v>
                  </c:pt>
                  <c:pt idx="5">
                    <c:v>Kloto</c:v>
                  </c:pt>
                  <c:pt idx="6">
                    <c:v>Tandjoaré</c:v>
                  </c:pt>
                  <c:pt idx="7">
                    <c:v>Agou</c:v>
                  </c:pt>
                  <c:pt idx="8">
                    <c:v>Blitta</c:v>
                  </c:pt>
                  <c:pt idx="9">
                    <c:v>Amou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13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Autres cantons</c:v>
                </c:pt>
              </c:strCache>
            </c:strRef>
          </c:tx>
          <c:spPr>
            <a:solidFill>
              <a:srgbClr val="D5E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Tône</c:v>
                  </c:pt>
                  <c:pt idx="1">
                    <c:v>Kozah</c:v>
                  </c:pt>
                  <c:pt idx="2">
                    <c:v>Tchaoudjo</c:v>
                  </c:pt>
                  <c:pt idx="3">
                    <c:v>Dankpen</c:v>
                  </c:pt>
                  <c:pt idx="4">
                    <c:v>Wawa</c:v>
                  </c:pt>
                  <c:pt idx="5">
                    <c:v>Kloto</c:v>
                  </c:pt>
                  <c:pt idx="6">
                    <c:v>Tandjoaré</c:v>
                  </c:pt>
                  <c:pt idx="7">
                    <c:v>Agou</c:v>
                  </c:pt>
                  <c:pt idx="8">
                    <c:v>Blitta</c:v>
                  </c:pt>
                  <c:pt idx="9">
                    <c:v>Amou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Cantons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défi : mesurer l'adoption du numérique et le rôle du mobile money dans l'inclusion financière, puis recommander où accélérer. Le dashboard en ligne est le livrable principal ; ce rapport en résume les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Géoportail ne fournit pas de limites de préfecture : les contours viennent de geoBoundaries (OpenStreetMap), en licence ouverte, avec fusion documentée des trois préfectures créées après 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calculés sur les établissements en activité (660 sur 738) et la population RGPH-5 2022. Un guichet = banque ou microfinance.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étapes sont dans pipeline/build_data.py, livré dans l'archive avec les données brutes.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sources se complètent : l'ARCEP compte des abonnements (44,8 pour 100 habitants en 2019), la Banque mondiale des individus (20,7 % la même année). Les séries ARCEP s'arrêtent en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Plateaux, deuxième région la plus peuplée (20 %), ne reçoivent que 15 % des établissements et 16 % des agents — la région la moins dotée en agents pour 1 000 habitants (1,88 contre 2,44).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carte est interactive dans le dashboard : 8 indicateurs, maille région ou préfecture, superposition des banques, microfinances, assurances et des 19 788 agents mobile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territoires ne sont pas des zones blanches : le service existe, mais il se limite au dépôt, au retrait et au transfert. Ni épargne rémunérée, ni crédit, ni assurance.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L'indice de priorité du dashboard (50 % habitants par établissement, 25 % agents pour 1 000 habitants inversé, 25 % part de cantons MM uniquement) classe Kpendjal, Akébou, Est-Mono, Kpendjal-Ouest et Dankpen en tête.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Les limites sont des lacunes de l'open data, retournées en recommandation n°6.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togo-inclusion-financiere.streamlit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ogo-inclusion-financiere.streamlit.app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· ÉCONOMIE NUMÉRIQUE · DÉFI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money, première porte d'entrée vers les services financiers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du numérique et inclusion financière au Togo : usage d'Internet, marché télécom, établissements financiers, agents mobile money et population 2022, préfecture par préfecture.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interactif en ligne : </a:t>
            </a:r>
            <a:pPr indent="0" marL="0">
              <a:buNone/>
            </a:pPr>
            <a:r>
              <a:rPr lang="en-US" sz="130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togo-inclusion-financiere.streamlit.app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SADJINA Christ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Plotly · 6 pages interactives · septembre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19 788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mobile money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679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financiers actifs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246 / 373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822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cantons desservis par le seul mobile money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et les données mobilisées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est dans toutes les poches, Internet chez moins de 4 personnes sur 10, et les banques restent en ville.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objectifs du défi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Retracer l'évolution de l'usage d'Internet et ses périodes d'accélération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marché télécom : parts de marché, CA, investissements, 3G/4G/fibre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établissements financiers et agents mobile money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 les points d'accès à la population : habitants par point de service, territoires desservis uniquement par le mobile money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où accélérer Internet et l'inclusion financière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959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retenu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Confronter l'offre (guichets bancaires, microfinances, agents) à la population de chaque préfecture et commune, et identifier les territoires où l'agent mobile money est le seul service financier.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sources, six fournies par le défi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27632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Jeu de données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mobile money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19 788 points, région → canton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déc.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Établissements financiers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738 points : banques, microfinances, assurances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janv.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RGPH-5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 unités, hiérarchie aplatie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d'Internet (Banque mondiale)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d'individus utilisant Internet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1960-2022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Abonnés Internet (ARCEP)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indicateurs par techno et opérateur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2013-2019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Marché téléphonie (ARCEP)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abonnés, CA, investissements, parts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2013-2019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Contours (geoBoundaries)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régions, 37 préfectures — source externe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388620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3959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Maille d'analyse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régions (Grand Lomé distinct, comme dans le RGPH-5) · 39 préfectures · 117 communes · 373 cantons. Population disponible jusqu'à la commune.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diagnostic en six chiffres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financier existe presque partout — mais, hors des villes, il se réduit à l'agent mobile money.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37,6 %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942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Togolais utilisent Internet en 2022 — 0,8 % en 2000, 4,5 % en 2013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6304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4942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agent mobile money, contre 12 266 par établissement financier et 38 007 par banque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6304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942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mobile money pour un guichet de banque ou de microfinance ; 49,6 dans les Savanes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0896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246 / 373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89534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cantons (66 %) sans aucun établissement financier : l'agent mobile money y est le seul guichet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10896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39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89534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sans aucune banque ; Kpendjal n'a aucun établissement financier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108960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89534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établissements financiers sont dans le Grand Lomé, pour 27 % de la population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: un pipeline reproductible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Python unique reconstruit toutes les tables ; chaque correction est documentée dans l'application.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9339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des géométries WKT · statuts d'activité harmonisés (14 valeurs → 4) · opérateurs multi-valués éclatés · anciens noms d'opérateurs relabellisés.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08760"/>
            <a:ext cx="384048" cy="384048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99339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reconstruite à partir d'un fichier sans colonne de niveau, validée par « préfecture = somme des communes ». Avé reconstruite, deux libellés dupliqués réaffectés, Binah 2 imputée.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08760"/>
            <a:ext cx="384048" cy="384048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99339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région, préfecture, commune et canton : habitants par établissement, par banque, par agent ; agents pour 1 000 hab. ; agents par guichet ; profil des cantons.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508760"/>
            <a:ext cx="384048" cy="384048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79208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99339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Plotly, déployé en ligne : 6 pages, choroplèthes sur vrais contours, filtres, survols, exports CSV, page méthodologie et limites.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005072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choix assumés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régions, le Grand Lomé étant publié hors Maritime dans le RGPH-5 — le traiter comme une région fait apparaître la concentration réelle. Un canton est « mobile money uniquement » s'il compte au moins un agent et aucun établissement financier en activité : c'est un indicateur d'accès physique, pas d'usage.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: stagnation, puis accélération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individus utilisant Internet (Banque mondiale) et lecture par phases.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325880"/>
            <a:ext cx="2788920" cy="1024128"/>
          </a:xfrm>
          <a:prstGeom prst="roundRect">
            <a:avLst>
              <a:gd name="adj" fmla="val 714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399032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2000-2013 · stagnation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0,8 % à 4,5 % : +0,3 point par an. Internet est fixe, urbain, cher — moins de 65 000 abonnés fixes.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97880" y="2441448"/>
            <a:ext cx="2788920" cy="1024128"/>
          </a:xfrm>
          <a:prstGeom prst="roundRect">
            <a:avLst>
              <a:gd name="adj" fmla="val 7143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514600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2014-2019 · décollage mobile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points. La 3G passe de 130 000 à 1,9 million de clients, la 4G est lancée en 2018. Taux de pénétration ARCEP : 5 % → 50 %.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355701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3630168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2020-2022 · accélération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 points en trois ans, dont +8,3 en 2020. Les revenus du secteur restent à ~180 Md FCFA : le prix de l'accès s'effondre, l'usage suit l'utilité.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L'offre financière ne suit pas la population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nationale de chaque région dans la population, les établissements financiers et les agents mobile money.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325880"/>
          <a:ext cx="2880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8686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Hab. / étab.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/ guichet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Lomé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12 475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12 831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16 197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329184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0" y="3364992"/>
            <a:ext cx="2606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Lomé concentre 40 % des établissements pour 27 % de la population. Dans les Savanes, un établissement dessert 21 176 habitants — 2,6 fois plus qu'à Lomé — et un guichet « couvre » 50 agents mobile money : le mobile money y remplace la banque.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Neuf préfectures sans banque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établissement financier (teinte) et banques en activité (points) — page « Carte des services » du dashboard.</a:t>
            </a:r>
            <a:endParaRPr lang="en-US" sz="1250" dirty="0"/>
          </a:p>
        </p:txBody>
      </p:sp>
      <p:pic>
        <p:nvPicPr>
          <p:cNvPr id="4" name="Image 0" descr="D:\coursprojets\Data_Challenges_Togo_AI_Lab\Economie_Numerique_Defi_2\rapport\captures\cart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6060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60604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D6C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1005840"/>
                <a:gridCol w="640080"/>
                <a:gridCol w="146304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Préfecture sans banque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Étab.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Est-Mono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164 460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Kpendjal-Ouest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123 330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114 172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Bas-Mono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94 860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Moyen-Mono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90 505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Kpendjal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88 365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Akébou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73 830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52 448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Danyi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46120" y="37947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383280" y="3867912"/>
            <a:ext cx="5166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842 210 habitants sans banque dans leur préfecture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Kpendjal (88 365 habitants) n'a aucun établissement financier et 41 agents mobile money — 0,46 pour 1 000 habitants, cinq fois moins que la moyenne nationale : c'est le territoire le plus à l'écart du pays. Akébou compte 73 830 habitants pour un seul établissement.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cantons sur trois n'ont que le mobile money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 373 cantons et préfectures comptant le plus de cantons desservis uniquement par le mobile money.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3017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611880" y="1325880"/>
          <a:ext cx="5074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1605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4233672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3 373 agents mobile money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le seul service financier de leur canton (17 % des agents).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663440" y="41605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00600" y="4233672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 : 74 cantons sur 110 · Kara : 58 sur 72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communes sur 117 sont dans le même cas.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recommandations chiffrées et territorialisées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est rattachée à un nombre d'habitants concernés et à des préfectures nommées.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65760" cy="3657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32588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des agents mobile money des guichets financiers complets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3 373 agents dans 246 cantons sans établissement : épargne, micro-crédit, micro-assurance et paiements publics via partenariats banques / microfinances / opérateurs, avec formation certifiante. Priorité : Plateaux (74 cantons), Kara (58).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53312"/>
            <a:ext cx="365760" cy="3657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132588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guichet de microfinance dans les 9 préfectures sans banque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842 210 habitants. Kpendjal d'abord (0 établissement), puis Est-Mono, Kpendjal-Ouest, Amou. Cible : un guichet par chef-lieu en 24 mois, adossé à un super-agent mobile money.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41448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Rattraper les 9 préfectures à plus de deux fois la moyenne nationale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établissements pour ramener chacune sous 24 500 habitants par point de service : Est-Mono +4, Akébou +2, Kpendjal-Ouest +2, Dankpen +2, et +1 pour Oti-Sud, Tandjoaré, Mô, Tône, Wawa.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2441448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Rééquilibrer Plateaux et Savanes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34 % de la population, 23 % des établissements. Densifier les agents dans les Plateaux (1,88 pour 1 000 hab.), les guichets dans les Savanes (49,6 agents par guichet).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5701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l'usage d'Internet de 37,6 % à 50 %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de personnes à connecter. La télédensité plafonne à 82 % : jouer sur la 4G hors Lomé, les forfaits data d'entrée de gamme et les services publics numériques.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584448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355701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l'open data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ARCEP après 2019, opérateur des 6,8 % d'agents non renseignés, hiérarchie et niveaux dans le fichier population, contours des préfectures récentes.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Limites, perspectives et livrable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ces données ne disent pas encore — et ce que le dashboard permet de faire dès maintenant.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d'agents mesure l'accès physique, pas les transactions ni les comptes actifs.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d'usage d'Internet infranationale : la fracture territoriale n'est approchée que par les points de service.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ARCEP arrêtées en 2019 ; points de 2024-2025 rapportés à la population 2022.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2017 : trois préfectures récentes fusionnées avec leur préfecture d'origine sur la carte.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6276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avec les volumes de transactions mobile money (BCEAO) pour passer de l'accès à l'usage.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distance de chaque canton au guichet le plus proche.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l'indice de priorité chaque année à partir du même pipeline.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</a:t>
            </a:r>
            <a:endParaRPr lang="en-US" sz="1250" dirty="0"/>
          </a:p>
        </p:txBody>
      </p:sp>
      <p:pic>
        <p:nvPicPr>
          <p:cNvPr id="9" name="Image 0" descr="D:\coursprojets\Data_Challenges_Togo_AI_Lab\Economie_Numerique_Defi_2\rapport\captures\v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27632"/>
            <a:ext cx="2651760" cy="1554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35040" y="1627632"/>
            <a:ext cx="26517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D6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 · choroplèthes · filtres · exports CSV · méthodologie intégrée</a:t>
            </a:r>
            <a:endParaRPr lang="en-US" sz="1000" dirty="0"/>
          </a:p>
          <a:p>
            <a:pPr indent="0" marL="0">
              <a:buNone/>
            </a:pPr>
            <a:r>
              <a:rPr lang="en-US" sz="110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https://togo-inclusion-financiere.streamlit.app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données brutes et pipeline dans l'archive jointe.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L'inclusion financière est déjà là, dans la poche. Il reste à lui donner un guichet.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Mobile money et inclusion financière au Togo  ·  SADJINA Christ  ·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money et inclusion financière au Togo — Défi 2</dc:title>
  <dc:subject>PptxGenJS Presentation</dc:subject>
  <dc:creator>SADJINA Christ</dc:creator>
  <cp:lastModifiedBy>SADJINA Christ</cp:lastModifiedBy>
  <cp:revision>1</cp:revision>
  <dcterms:created xsi:type="dcterms:W3CDTF">2026-09-21T23:56:45Z</dcterms:created>
  <dcterms:modified xsi:type="dcterms:W3CDTF">2026-09-21T23:56:45Z</dcterms:modified>
</cp:coreProperties>
</file>